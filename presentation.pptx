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judges! Meet Nova, an intelligent assistant designed to solve a major problem in open-source: why first-time contributors give up before making their first PR due to scattered and lengthy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developers want to contribute, they face fragmented markdown files. Traditional search or basic AI tools either fail to parse markdown properly or hallucinate dangerous setup commands that break local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designed a robust pipeline: documents are split into precise chunks, embedded into a vector space, and matched dynamically when a developer asks 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fix multi-file confusion, we tagged every chunk with its source file name. And to stop hallucinations, our system prompt ensures that if the answer isn't in the docs, Nova safely says it cannot be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standard Q&amp;A, Nova includes a specialized 'Onboarding Checklist' feature that instantly generates a step-by-step roadmap for anyone starting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Nova thoroughly using a 15-question benchmark dataset covering both in-scope documentation tasks and strict refusal tests, achieving flawless reliability and precise citations.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glow"/>
          <p:cNvSpPr/>
          <p:nvPr/>
        </p:nvSpPr>
        <p:spPr>
          <a:xfrm>
            <a:off x="6583680" y="-1097280"/>
            <a:ext cx="4114800" cy="4114800"/>
          </a:xfrm>
          <a:prstGeom prst="ellipse">
            <a:avLst/>
          </a:prstGeom>
          <a:solidFill>
            <a:srgbClr val="A78BFA">
              <a:alpha val="15000"/>
            </a:srgbClr>
          </a:solidFill>
          <a:ln w="12700">
            <a:solidFill>
              <a:srgbClr val="A78BFA">
                <a:alpha val="0"/>
              </a:srgbClr>
            </a:solidFill>
            <a:prstDash val="solid"/>
          </a:ln>
        </p:spPr>
      </p:sp>
      <p:sp>
        <p:nvSpPr>
          <p:cNvPr id="3" name="Text 1"/>
          <p:cNvSpPr txBox="1"/>
          <p:nvPr/>
        </p:nvSpPr>
        <p:spPr>
          <a:xfrm>
            <a:off x="548640" y="640080"/>
            <a:ext cx="7315200" cy="274320"/>
          </a:xfrm>
          <a:prstGeom prst="rect">
            <a:avLst/>
          </a:prstGeom>
          <a:noFill/>
          <a:ln/>
        </p:spPr>
        <p:txBody>
          <a:bodyPr wrap="square" lIns="0" tIns="0" rIns="0" bIns="0" rtlCol="0" anchor="ctr"/>
          <a:lstStyle/>
          <a:p>
            <a:pPr indent="0" marL="0">
              <a:buNone/>
            </a:pPr>
            <a:r>
              <a:rPr lang="en-US" sz="1200" b="1" spc="300" kern="0" dirty="0">
                <a:solidFill>
                  <a:srgbClr val="38BDF8"/>
                </a:solidFill>
                <a:latin typeface="Calibri" pitchFamily="34" charset="0"/>
                <a:ea typeface="Calibri" pitchFamily="34" charset="-122"/>
                <a:cs typeface="Calibri" pitchFamily="34" charset="-120"/>
              </a:rPr>
              <a:t>HACKTOBERFEST · PROBLEM 2B</a:t>
            </a:r>
            <a:endParaRPr lang="en-US" sz="1200" dirty="0"/>
          </a:p>
        </p:txBody>
      </p:sp>
      <p:sp>
        <p:nvSpPr>
          <p:cNvPr id="4" name="Text 2"/>
          <p:cNvSpPr txBox="1"/>
          <p:nvPr/>
        </p:nvSpPr>
        <p:spPr>
          <a:xfrm>
            <a:off x="548640" y="1005840"/>
            <a:ext cx="7680960" cy="1097280"/>
          </a:xfrm>
          <a:prstGeom prst="rect">
            <a:avLst/>
          </a:prstGeom>
          <a:noFill/>
          <a:ln/>
        </p:spPr>
        <p:txBody>
          <a:bodyPr wrap="square" lIns="0" tIns="0" rIns="0" bIns="0" rtlCol="0" anchor="t"/>
          <a:lstStyle/>
          <a:p>
            <a:pPr indent="0" marL="0">
              <a:buNone/>
            </a:pPr>
            <a:r>
              <a:rPr lang="en-US" sz="4000" b="1" dirty="0">
                <a:solidFill>
                  <a:srgbClr val="F1F5F9"/>
                </a:solidFill>
                <a:latin typeface="Calibri" pitchFamily="34" charset="0"/>
                <a:ea typeface="Calibri" pitchFamily="34" charset="-122"/>
                <a:cs typeface="Calibri" pitchFamily="34" charset="-120"/>
              </a:rPr>
              <a:t>Open-Source Contributor Assistant</a:t>
            </a:r>
            <a:endParaRPr lang="en-US" sz="4000" dirty="0"/>
          </a:p>
        </p:txBody>
      </p:sp>
      <p:sp>
        <p:nvSpPr>
          <p:cNvPr id="5" name="Text 3"/>
          <p:cNvSpPr txBox="1"/>
          <p:nvPr/>
        </p:nvSpPr>
        <p:spPr>
          <a:xfrm>
            <a:off x="548640" y="2194560"/>
            <a:ext cx="6949440" cy="640080"/>
          </a:xfrm>
          <a:prstGeom prst="rect">
            <a:avLst/>
          </a:prstGeom>
          <a:noFill/>
          <a:ln/>
        </p:spPr>
        <p:txBody>
          <a:bodyPr wrap="square" lIns="0" tIns="0" rIns="0" bIns="0" rtlCol="0" anchor="t"/>
          <a:lstStyle/>
          <a:p>
            <a:pPr indent="0" marL="0">
              <a:buNone/>
            </a:pPr>
            <a:r>
              <a:rPr lang="en-US" sz="1800" dirty="0">
                <a:solidFill>
                  <a:srgbClr val="94A3B8"/>
                </a:solidFill>
                <a:latin typeface="Calibri" pitchFamily="34" charset="0"/>
                <a:ea typeface="Calibri" pitchFamily="34" charset="-122"/>
                <a:cs typeface="Calibri" pitchFamily="34" charset="-120"/>
              </a:rPr>
              <a:t>Empowering first-time Hacktoberfest contributors through intelligent RAG.</a:t>
            </a:r>
            <a:endParaRPr lang="en-US" sz="1800" dirty="0"/>
          </a:p>
        </p:txBody>
      </p:sp>
      <p:sp>
        <p:nvSpPr>
          <p:cNvPr id="6" name="chip0"/>
          <p:cNvSpPr/>
          <p:nvPr/>
        </p:nvSpPr>
        <p:spPr>
          <a:xfrm>
            <a:off x="548640" y="3383280"/>
            <a:ext cx="2560320" cy="1188720"/>
          </a:xfrm>
          <a:prstGeom prst="roundRect">
            <a:avLst>
              <a:gd name="adj" fmla="val 6154"/>
            </a:avLst>
          </a:prstGeom>
          <a:solidFill>
            <a:srgbClr val="16213A"/>
          </a:solidFill>
          <a:ln w="12700">
            <a:solidFill>
              <a:srgbClr val="38BDF8"/>
            </a:solidFill>
            <a:prstDash val="solid"/>
          </a:ln>
        </p:spPr>
      </p:sp>
      <p:sp>
        <p:nvSpPr>
          <p:cNvPr id="7" name="Text 5"/>
          <p:cNvSpPr txBox="1"/>
          <p:nvPr/>
        </p:nvSpPr>
        <p:spPr>
          <a:xfrm>
            <a:off x="731520" y="3383280"/>
            <a:ext cx="2194560" cy="1188720"/>
          </a:xfrm>
          <a:prstGeom prst="rect">
            <a:avLst/>
          </a:prstGeom>
          <a:noFill/>
          <a:ln/>
        </p:spPr>
        <p:txBody>
          <a:bodyPr wrap="square" lIns="0" tIns="0" rIns="0" bIns="0" rtlCol="0" anchor="ctr"/>
          <a:lstStyle/>
          <a:p>
            <a:pPr indent="0" marL="0">
              <a:buNone/>
            </a:pPr>
            <a:r>
              <a:rPr lang="en-US" sz="1300" b="1" dirty="0">
                <a:solidFill>
                  <a:srgbClr val="38BDF8"/>
                </a:solidFill>
                <a:latin typeface="Calibri" pitchFamily="34" charset="0"/>
                <a:ea typeface="Calibri" pitchFamily="34" charset="-122"/>
                <a:cs typeface="Calibri" pitchFamily="34" charset="-120"/>
              </a:rPr>
              <a:t>The Vision</a:t>
            </a:r>
            <a:endParaRPr lang="en-US" sz="1300" dirty="0"/>
          </a:p>
          <a:p>
            <a:pPr indent="0" marL="0">
              <a:buNone/>
            </a:pPr>
            <a:r>
              <a:rPr lang="en-US" sz="1200" dirty="0">
                <a:solidFill>
                  <a:srgbClr val="F1F5F9"/>
                </a:solidFill>
                <a:latin typeface="Calibri" pitchFamily="34" charset="0"/>
                <a:ea typeface="Calibri" pitchFamily="34" charset="-122"/>
                <a:cs typeface="Calibri" pitchFamily="34" charset="-120"/>
              </a:rPr>
              <a:t>Bridging complex repos and confused newcomers</a:t>
            </a:r>
            <a:endParaRPr lang="en-US" sz="1300" dirty="0"/>
          </a:p>
        </p:txBody>
      </p:sp>
      <p:sp>
        <p:nvSpPr>
          <p:cNvPr id="8" name="chip1"/>
          <p:cNvSpPr/>
          <p:nvPr/>
        </p:nvSpPr>
        <p:spPr>
          <a:xfrm>
            <a:off x="3291840" y="3383280"/>
            <a:ext cx="2560320" cy="1188720"/>
          </a:xfrm>
          <a:prstGeom prst="roundRect">
            <a:avLst>
              <a:gd name="adj" fmla="val 6154"/>
            </a:avLst>
          </a:prstGeom>
          <a:solidFill>
            <a:srgbClr val="16213A"/>
          </a:solidFill>
          <a:ln w="12700">
            <a:solidFill>
              <a:srgbClr val="A78BFA"/>
            </a:solidFill>
            <a:prstDash val="solid"/>
          </a:ln>
        </p:spPr>
      </p:sp>
      <p:sp>
        <p:nvSpPr>
          <p:cNvPr id="9" name="Text 7"/>
          <p:cNvSpPr txBox="1"/>
          <p:nvPr/>
        </p:nvSpPr>
        <p:spPr>
          <a:xfrm>
            <a:off x="3474720" y="3383280"/>
            <a:ext cx="2194560" cy="1188720"/>
          </a:xfrm>
          <a:prstGeom prst="rect">
            <a:avLst/>
          </a:prstGeom>
          <a:noFill/>
          <a:ln/>
        </p:spPr>
        <p:txBody>
          <a:bodyPr wrap="square" lIns="0" tIns="0" rIns="0" bIns="0" rtlCol="0" anchor="ctr"/>
          <a:lstStyle/>
          <a:p>
            <a:pPr indent="0" marL="0">
              <a:buNone/>
            </a:pPr>
            <a:r>
              <a:rPr lang="en-US" sz="1300" b="1" dirty="0">
                <a:solidFill>
                  <a:srgbClr val="A78BFA"/>
                </a:solidFill>
                <a:latin typeface="Calibri" pitchFamily="34" charset="0"/>
                <a:ea typeface="Calibri" pitchFamily="34" charset="-122"/>
                <a:cs typeface="Calibri" pitchFamily="34" charset="-120"/>
              </a:rPr>
              <a:t>Problem Statement</a:t>
            </a:r>
            <a:endParaRPr lang="en-US" sz="1300" dirty="0"/>
          </a:p>
          <a:p>
            <a:pPr indent="0" marL="0">
              <a:buNone/>
            </a:pPr>
            <a:r>
              <a:rPr lang="en-US" sz="1200" dirty="0">
                <a:solidFill>
                  <a:srgbClr val="F1F5F9"/>
                </a:solidFill>
                <a:latin typeface="Calibri" pitchFamily="34" charset="0"/>
                <a:ea typeface="Calibri" pitchFamily="34" charset="-122"/>
                <a:cs typeface="Calibri" pitchFamily="34" charset="-120"/>
              </a:rPr>
              <a:t>2B · Open-Source Contributor Guide</a:t>
            </a:r>
            <a:endParaRPr lang="en-US" sz="1300" dirty="0"/>
          </a:p>
        </p:txBody>
      </p:sp>
      <p:sp>
        <p:nvSpPr>
          <p:cNvPr id="10" name="chip2"/>
          <p:cNvSpPr/>
          <p:nvPr/>
        </p:nvSpPr>
        <p:spPr>
          <a:xfrm>
            <a:off x="6035040" y="3383280"/>
            <a:ext cx="2560320" cy="1188720"/>
          </a:xfrm>
          <a:prstGeom prst="roundRect">
            <a:avLst>
              <a:gd name="adj" fmla="val 6154"/>
            </a:avLst>
          </a:prstGeom>
          <a:solidFill>
            <a:srgbClr val="16213A"/>
          </a:solidFill>
          <a:ln w="12700">
            <a:solidFill>
              <a:srgbClr val="34D399"/>
            </a:solidFill>
            <a:prstDash val="solid"/>
          </a:ln>
        </p:spPr>
      </p:sp>
      <p:sp>
        <p:nvSpPr>
          <p:cNvPr id="11" name="Text 9"/>
          <p:cNvSpPr txBox="1"/>
          <p:nvPr/>
        </p:nvSpPr>
        <p:spPr>
          <a:xfrm>
            <a:off x="6217920" y="3383280"/>
            <a:ext cx="2194560" cy="1188720"/>
          </a:xfrm>
          <a:prstGeom prst="rect">
            <a:avLst/>
          </a:prstGeom>
          <a:noFill/>
          <a:ln/>
        </p:spPr>
        <p:txBody>
          <a:bodyPr wrap="square" lIns="0" tIns="0" rIns="0" bIns="0" rtlCol="0" anchor="ctr"/>
          <a:lstStyle/>
          <a:p>
            <a:pPr indent="0" marL="0">
              <a:buNone/>
            </a:pPr>
            <a:r>
              <a:rPr lang="en-US" sz="1300" b="1" dirty="0">
                <a:solidFill>
                  <a:srgbClr val="34D399"/>
                </a:solidFill>
                <a:latin typeface="Calibri" pitchFamily="34" charset="0"/>
                <a:ea typeface="Calibri" pitchFamily="34" charset="-122"/>
                <a:cs typeface="Calibri" pitchFamily="34" charset="-120"/>
              </a:rPr>
              <a:t>Core Tech</a:t>
            </a:r>
            <a:endParaRPr lang="en-US" sz="1300" dirty="0"/>
          </a:p>
          <a:p>
            <a:pPr indent="0" marL="0">
              <a:buNone/>
            </a:pPr>
            <a:r>
              <a:rPr lang="en-US" sz="1200" dirty="0">
                <a:solidFill>
                  <a:srgbClr val="F1F5F9"/>
                </a:solidFill>
                <a:latin typeface="Calibri" pitchFamily="34" charset="0"/>
                <a:ea typeface="Calibri" pitchFamily="34" charset="-122"/>
                <a:cs typeface="Calibri" pitchFamily="34" charset="-120"/>
              </a:rPr>
              <a:t>Google Gemma 4 + Gradio</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74320"/>
          </a:xfrm>
          <a:prstGeom prst="rect">
            <a:avLst/>
          </a:prstGeom>
          <a:noFill/>
          <a:ln/>
        </p:spPr>
        <p:txBody>
          <a:bodyPr wrap="square" lIns="0" tIns="0" rIns="0" bIns="0" rtlCol="0" anchor="ctr"/>
          <a:lstStyle/>
          <a:p>
            <a:pPr indent="0" marL="0">
              <a:buNone/>
            </a:pPr>
            <a:r>
              <a:rPr lang="en-US" sz="1200" b="1" spc="300" kern="0" dirty="0">
                <a:solidFill>
                  <a:srgbClr val="38BDF8"/>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594360"/>
            <a:ext cx="8046720" cy="73152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The Onboarding Barrier in Open Source</a:t>
            </a:r>
            <a:endParaRPr lang="en-US" sz="2800" dirty="0"/>
          </a:p>
        </p:txBody>
      </p:sp>
      <p:sp>
        <p:nvSpPr>
          <p:cNvPr id="4" name="card0"/>
          <p:cNvSpPr/>
          <p:nvPr/>
        </p:nvSpPr>
        <p:spPr>
          <a:xfrm>
            <a:off x="548640" y="1508760"/>
            <a:ext cx="8046720" cy="964692"/>
          </a:xfrm>
          <a:prstGeom prst="roundRect">
            <a:avLst>
              <a:gd name="adj" fmla="val 7583"/>
            </a:avLst>
          </a:prstGeom>
          <a:solidFill>
            <a:srgbClr val="16213A"/>
          </a:solidFill>
          <a:ln w="12700">
            <a:solidFill>
              <a:srgbClr val="16213A"/>
            </a:solidFill>
            <a:prstDash val="solid"/>
          </a:ln>
        </p:spPr>
      </p:sp>
      <p:sp>
        <p:nvSpPr>
          <p:cNvPr id="5" name="bar0"/>
          <p:cNvSpPr/>
          <p:nvPr/>
        </p:nvSpPr>
        <p:spPr>
          <a:xfrm>
            <a:off x="548640" y="1618488"/>
            <a:ext cx="64008" cy="745236"/>
          </a:xfrm>
          <a:prstGeom prst="rect">
            <a:avLst/>
          </a:prstGeom>
          <a:solidFill>
            <a:srgbClr val="38BDF8"/>
          </a:solidFill>
          <a:ln w="12700">
            <a:solidFill>
              <a:srgbClr val="38BDF8"/>
            </a:solidFill>
            <a:prstDash val="solid"/>
          </a:ln>
        </p:spPr>
      </p:sp>
      <p:sp>
        <p:nvSpPr>
          <p:cNvPr id="6" name="Text 4"/>
          <p:cNvSpPr txBox="1"/>
          <p:nvPr/>
        </p:nvSpPr>
        <p:spPr>
          <a:xfrm>
            <a:off x="822960" y="1508760"/>
            <a:ext cx="7589520" cy="964692"/>
          </a:xfrm>
          <a:prstGeom prst="rect">
            <a:avLst/>
          </a:prstGeom>
          <a:noFill/>
          <a:ln/>
        </p:spPr>
        <p:txBody>
          <a:bodyPr wrap="square" lIns="0" tIns="0" rIns="0" bIns="0" rtlCol="0" anchor="ctr"/>
          <a:lstStyle/>
          <a:p>
            <a:pPr indent="0" marL="0">
              <a:buNone/>
            </a:pPr>
            <a:r>
              <a:rPr lang="en-US" sz="1500" b="1" dirty="0">
                <a:solidFill>
                  <a:srgbClr val="38BDF8"/>
                </a:solidFill>
                <a:latin typeface="Calibri" pitchFamily="34" charset="0"/>
                <a:ea typeface="Calibri" pitchFamily="34" charset="-122"/>
                <a:cs typeface="Calibri" pitchFamily="34" charset="-120"/>
              </a:rPr>
              <a:t>Scattered Docs</a:t>
            </a:r>
            <a:endParaRPr lang="en-US" sz="1500" dirty="0"/>
          </a:p>
          <a:p>
            <a:pPr indent="0" marL="0">
              <a:buNone/>
            </a:pPr>
            <a:r>
              <a:rPr lang="en-US" sz="1300" dirty="0">
                <a:solidFill>
                  <a:srgbClr val="F1F5F9"/>
                </a:solidFill>
                <a:latin typeface="Calibri" pitchFamily="34" charset="0"/>
                <a:ea typeface="Calibri" pitchFamily="34" charset="-122"/>
                <a:cs typeface="Calibri" pitchFamily="34" charset="-120"/>
              </a:rPr>
              <a:t>Setup steps fragmented across README.md, CONTRIBUTING.md and issue templates.</a:t>
            </a:r>
            <a:endParaRPr lang="en-US" sz="1500" dirty="0"/>
          </a:p>
        </p:txBody>
      </p:sp>
      <p:sp>
        <p:nvSpPr>
          <p:cNvPr id="7" name="card1"/>
          <p:cNvSpPr/>
          <p:nvPr/>
        </p:nvSpPr>
        <p:spPr>
          <a:xfrm>
            <a:off x="548640" y="2638044"/>
            <a:ext cx="8046720" cy="964692"/>
          </a:xfrm>
          <a:prstGeom prst="roundRect">
            <a:avLst>
              <a:gd name="adj" fmla="val 7583"/>
            </a:avLst>
          </a:prstGeom>
          <a:solidFill>
            <a:srgbClr val="16213A"/>
          </a:solidFill>
          <a:ln w="12700">
            <a:solidFill>
              <a:srgbClr val="16213A"/>
            </a:solidFill>
            <a:prstDash val="solid"/>
          </a:ln>
        </p:spPr>
      </p:sp>
      <p:sp>
        <p:nvSpPr>
          <p:cNvPr id="8" name="bar1"/>
          <p:cNvSpPr/>
          <p:nvPr/>
        </p:nvSpPr>
        <p:spPr>
          <a:xfrm>
            <a:off x="548640" y="2747772"/>
            <a:ext cx="64008" cy="745236"/>
          </a:xfrm>
          <a:prstGeom prst="rect">
            <a:avLst/>
          </a:prstGeom>
          <a:solidFill>
            <a:srgbClr val="A78BFA"/>
          </a:solidFill>
          <a:ln w="12700">
            <a:solidFill>
              <a:srgbClr val="A78BFA"/>
            </a:solidFill>
            <a:prstDash val="solid"/>
          </a:ln>
        </p:spPr>
      </p:sp>
      <p:sp>
        <p:nvSpPr>
          <p:cNvPr id="9" name="Text 7"/>
          <p:cNvSpPr txBox="1"/>
          <p:nvPr/>
        </p:nvSpPr>
        <p:spPr>
          <a:xfrm>
            <a:off x="822960" y="2638044"/>
            <a:ext cx="7589520" cy="964692"/>
          </a:xfrm>
          <a:prstGeom prst="rect">
            <a:avLst/>
          </a:prstGeom>
          <a:noFill/>
          <a:ln/>
        </p:spPr>
        <p:txBody>
          <a:bodyPr wrap="square" lIns="0" tIns="0" rIns="0" bIns="0" rtlCol="0" anchor="ctr"/>
          <a:lstStyle/>
          <a:p>
            <a:pPr indent="0" marL="0">
              <a:buNone/>
            </a:pPr>
            <a:r>
              <a:rPr lang="en-US" sz="1500" b="1" dirty="0">
                <a:solidFill>
                  <a:srgbClr val="A78BFA"/>
                </a:solidFill>
                <a:latin typeface="Calibri" pitchFamily="34" charset="0"/>
                <a:ea typeface="Calibri" pitchFamily="34" charset="-122"/>
                <a:cs typeface="Calibri" pitchFamily="34" charset="-120"/>
              </a:rPr>
              <a:t>Information Overload</a:t>
            </a:r>
            <a:endParaRPr lang="en-US" sz="1500" dirty="0"/>
          </a:p>
          <a:p>
            <a:pPr indent="0" marL="0">
              <a:buNone/>
            </a:pPr>
            <a:r>
              <a:rPr lang="en-US" sz="1300" dirty="0">
                <a:solidFill>
                  <a:srgbClr val="F1F5F9"/>
                </a:solidFill>
                <a:latin typeface="Calibri" pitchFamily="34" charset="0"/>
                <a:ea typeface="Calibri" pitchFamily="34" charset="-122"/>
                <a:cs typeface="Calibri" pitchFamily="34" charset="-120"/>
              </a:rPr>
              <a:t>Newcomers abandon repos before writing a single line of code.</a:t>
            </a:r>
            <a:endParaRPr lang="en-US" sz="1500" dirty="0"/>
          </a:p>
        </p:txBody>
      </p:sp>
      <p:sp>
        <p:nvSpPr>
          <p:cNvPr id="10" name="card2"/>
          <p:cNvSpPr/>
          <p:nvPr/>
        </p:nvSpPr>
        <p:spPr>
          <a:xfrm>
            <a:off x="548640" y="3767328"/>
            <a:ext cx="8046720" cy="964692"/>
          </a:xfrm>
          <a:prstGeom prst="roundRect">
            <a:avLst>
              <a:gd name="adj" fmla="val 7583"/>
            </a:avLst>
          </a:prstGeom>
          <a:solidFill>
            <a:srgbClr val="16213A"/>
          </a:solidFill>
          <a:ln w="12700">
            <a:solidFill>
              <a:srgbClr val="16213A"/>
            </a:solidFill>
            <a:prstDash val="solid"/>
          </a:ln>
        </p:spPr>
      </p:sp>
      <p:sp>
        <p:nvSpPr>
          <p:cNvPr id="11" name="bar2"/>
          <p:cNvSpPr/>
          <p:nvPr/>
        </p:nvSpPr>
        <p:spPr>
          <a:xfrm>
            <a:off x="548640" y="3877056"/>
            <a:ext cx="64008" cy="745236"/>
          </a:xfrm>
          <a:prstGeom prst="rect">
            <a:avLst/>
          </a:prstGeom>
          <a:solidFill>
            <a:srgbClr val="34D399"/>
          </a:solidFill>
          <a:ln w="12700">
            <a:solidFill>
              <a:srgbClr val="34D399"/>
            </a:solidFill>
            <a:prstDash val="solid"/>
          </a:ln>
        </p:spPr>
      </p:sp>
      <p:sp>
        <p:nvSpPr>
          <p:cNvPr id="12" name="Text 10"/>
          <p:cNvSpPr txBox="1"/>
          <p:nvPr/>
        </p:nvSpPr>
        <p:spPr>
          <a:xfrm>
            <a:off x="822960" y="3767328"/>
            <a:ext cx="7589520" cy="964692"/>
          </a:xfrm>
          <a:prstGeom prst="rect">
            <a:avLst/>
          </a:prstGeom>
          <a:noFill/>
          <a:ln/>
        </p:spPr>
        <p:txBody>
          <a:bodyPr wrap="square" lIns="0" tIns="0" rIns="0" bIns="0" rtlCol="0" anchor="ctr"/>
          <a:lstStyle/>
          <a:p>
            <a:pPr indent="0" marL="0">
              <a:buNone/>
            </a:pPr>
            <a:r>
              <a:rPr lang="en-US" sz="1500" b="1" dirty="0">
                <a:solidFill>
                  <a:srgbClr val="34D399"/>
                </a:solidFill>
                <a:latin typeface="Calibri" pitchFamily="34" charset="0"/>
                <a:ea typeface="Calibri" pitchFamily="34" charset="-122"/>
                <a:cs typeface="Calibri" pitchFamily="34" charset="-120"/>
              </a:rPr>
              <a:t>RAG Limits in Starter Kits</a:t>
            </a:r>
            <a:endParaRPr lang="en-US" sz="1500" dirty="0"/>
          </a:p>
          <a:p>
            <a:pPr indent="0" marL="0">
              <a:buNone/>
            </a:pPr>
            <a:r>
              <a:rPr lang="en-US" sz="1300" dirty="0">
                <a:solidFill>
                  <a:srgbClr val="F1F5F9"/>
                </a:solidFill>
                <a:latin typeface="Calibri" pitchFamily="34" charset="0"/>
                <a:ea typeface="Calibri" pitchFamily="34" charset="-122"/>
                <a:cs typeface="Calibri" pitchFamily="34" charset="-120"/>
              </a:rPr>
              <a:t>PDF-only, no multi-file support, and hallucinated setup commands.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74320"/>
          </a:xfrm>
          <a:prstGeom prst="rect">
            <a:avLst/>
          </a:prstGeom>
          <a:noFill/>
          <a:ln/>
        </p:spPr>
        <p:txBody>
          <a:bodyPr wrap="square" lIns="0" tIns="0" rIns="0" bIns="0" rtlCol="0" anchor="ctr"/>
          <a:lstStyle/>
          <a:p>
            <a:pPr indent="0" marL="0">
              <a:buNone/>
            </a:pPr>
            <a:r>
              <a:rPr lang="en-US" sz="1200" b="1" spc="300" kern="0" dirty="0">
                <a:solidFill>
                  <a:srgbClr val="38BDF8"/>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48640" y="594360"/>
            <a:ext cx="8046720" cy="73152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Modern, Scalable Technical Stack</a:t>
            </a:r>
            <a:endParaRPr lang="en-US" sz="2800" dirty="0"/>
          </a:p>
        </p:txBody>
      </p:sp>
      <p:sp>
        <p:nvSpPr>
          <p:cNvPr id="4" name="card0"/>
          <p:cNvSpPr/>
          <p:nvPr/>
        </p:nvSpPr>
        <p:spPr>
          <a:xfrm>
            <a:off x="548640" y="1508760"/>
            <a:ext cx="8046720" cy="682371"/>
          </a:xfrm>
          <a:prstGeom prst="roundRect">
            <a:avLst>
              <a:gd name="adj" fmla="val 10720"/>
            </a:avLst>
          </a:prstGeom>
          <a:solidFill>
            <a:srgbClr val="16213A"/>
          </a:solidFill>
          <a:ln w="12700">
            <a:solidFill>
              <a:srgbClr val="16213A"/>
            </a:solidFill>
            <a:prstDash val="solid"/>
          </a:ln>
        </p:spPr>
      </p:sp>
      <p:sp>
        <p:nvSpPr>
          <p:cNvPr id="5" name="bar0"/>
          <p:cNvSpPr/>
          <p:nvPr/>
        </p:nvSpPr>
        <p:spPr>
          <a:xfrm>
            <a:off x="548640" y="1618488"/>
            <a:ext cx="64008" cy="462915"/>
          </a:xfrm>
          <a:prstGeom prst="rect">
            <a:avLst/>
          </a:prstGeom>
          <a:solidFill>
            <a:srgbClr val="38BDF8"/>
          </a:solidFill>
          <a:ln w="12700">
            <a:solidFill>
              <a:srgbClr val="38BDF8"/>
            </a:solidFill>
            <a:prstDash val="solid"/>
          </a:ln>
        </p:spPr>
      </p:sp>
      <p:sp>
        <p:nvSpPr>
          <p:cNvPr id="6" name="Text 4"/>
          <p:cNvSpPr txBox="1"/>
          <p:nvPr/>
        </p:nvSpPr>
        <p:spPr>
          <a:xfrm>
            <a:off x="822960" y="1508760"/>
            <a:ext cx="7589520" cy="682371"/>
          </a:xfrm>
          <a:prstGeom prst="rect">
            <a:avLst/>
          </a:prstGeom>
          <a:noFill/>
          <a:ln/>
        </p:spPr>
        <p:txBody>
          <a:bodyPr wrap="square" lIns="0" tIns="0" rIns="0" bIns="0" rtlCol="0" anchor="ctr"/>
          <a:lstStyle/>
          <a:p>
            <a:pPr indent="0" marL="0">
              <a:buNone/>
            </a:pPr>
            <a:r>
              <a:rPr lang="en-US" sz="1500" b="1" dirty="0">
                <a:solidFill>
                  <a:srgbClr val="38BDF8"/>
                </a:solidFill>
                <a:latin typeface="Calibri" pitchFamily="34" charset="0"/>
                <a:ea typeface="Calibri" pitchFamily="34" charset="-122"/>
                <a:cs typeface="Calibri" pitchFamily="34" charset="-120"/>
              </a:rPr>
              <a:t>Interface Layer</a:t>
            </a:r>
            <a:endParaRPr lang="en-US" sz="1500" dirty="0"/>
          </a:p>
          <a:p>
            <a:pPr indent="0" marL="0">
              <a:buNone/>
            </a:pPr>
            <a:r>
              <a:rPr lang="en-US" sz="1300" dirty="0">
                <a:solidFill>
                  <a:srgbClr val="F1F5F9"/>
                </a:solidFill>
                <a:latin typeface="Calibri" pitchFamily="34" charset="0"/>
                <a:ea typeface="Calibri" pitchFamily="34" charset="-122"/>
                <a:cs typeface="Calibri" pitchFamily="34" charset="-120"/>
              </a:rPr>
              <a:t>Clean, minimalist Gradio UI for a frictionless developer experience.</a:t>
            </a:r>
            <a:endParaRPr lang="en-US" sz="1500" dirty="0"/>
          </a:p>
        </p:txBody>
      </p:sp>
      <p:sp>
        <p:nvSpPr>
          <p:cNvPr id="7" name="card1"/>
          <p:cNvSpPr/>
          <p:nvPr/>
        </p:nvSpPr>
        <p:spPr>
          <a:xfrm>
            <a:off x="548640" y="2355723"/>
            <a:ext cx="8046720" cy="682371"/>
          </a:xfrm>
          <a:prstGeom prst="roundRect">
            <a:avLst>
              <a:gd name="adj" fmla="val 10720"/>
            </a:avLst>
          </a:prstGeom>
          <a:solidFill>
            <a:srgbClr val="16213A"/>
          </a:solidFill>
          <a:ln w="12700">
            <a:solidFill>
              <a:srgbClr val="16213A"/>
            </a:solidFill>
            <a:prstDash val="solid"/>
          </a:ln>
        </p:spPr>
      </p:sp>
      <p:sp>
        <p:nvSpPr>
          <p:cNvPr id="8" name="bar1"/>
          <p:cNvSpPr/>
          <p:nvPr/>
        </p:nvSpPr>
        <p:spPr>
          <a:xfrm>
            <a:off x="548640" y="2465451"/>
            <a:ext cx="64008" cy="462915"/>
          </a:xfrm>
          <a:prstGeom prst="rect">
            <a:avLst/>
          </a:prstGeom>
          <a:solidFill>
            <a:srgbClr val="A78BFA"/>
          </a:solidFill>
          <a:ln w="12700">
            <a:solidFill>
              <a:srgbClr val="A78BFA"/>
            </a:solidFill>
            <a:prstDash val="solid"/>
          </a:ln>
        </p:spPr>
      </p:sp>
      <p:sp>
        <p:nvSpPr>
          <p:cNvPr id="9" name="Text 7"/>
          <p:cNvSpPr txBox="1"/>
          <p:nvPr/>
        </p:nvSpPr>
        <p:spPr>
          <a:xfrm>
            <a:off x="822960" y="2355723"/>
            <a:ext cx="7589520" cy="682371"/>
          </a:xfrm>
          <a:prstGeom prst="rect">
            <a:avLst/>
          </a:prstGeom>
          <a:noFill/>
          <a:ln/>
        </p:spPr>
        <p:txBody>
          <a:bodyPr wrap="square" lIns="0" tIns="0" rIns="0" bIns="0" rtlCol="0" anchor="ctr"/>
          <a:lstStyle/>
          <a:p>
            <a:pPr indent="0" marL="0">
              <a:buNone/>
            </a:pPr>
            <a:r>
              <a:rPr lang="en-US" sz="1500" b="1" dirty="0">
                <a:solidFill>
                  <a:srgbClr val="A78BFA"/>
                </a:solidFill>
                <a:latin typeface="Calibri" pitchFamily="34" charset="0"/>
                <a:ea typeface="Calibri" pitchFamily="34" charset="-122"/>
                <a:cs typeface="Calibri" pitchFamily="34" charset="-120"/>
              </a:rPr>
              <a:t>Processing &amp; Embedding</a:t>
            </a:r>
            <a:endParaRPr lang="en-US" sz="1500" dirty="0"/>
          </a:p>
          <a:p>
            <a:pPr indent="0" marL="0">
              <a:buNone/>
            </a:pPr>
            <a:r>
              <a:rPr lang="en-US" sz="1300" dirty="0">
                <a:solidFill>
                  <a:srgbClr val="F1F5F9"/>
                </a:solidFill>
                <a:latin typeface="Calibri" pitchFamily="34" charset="0"/>
                <a:ea typeface="Calibri" pitchFamily="34" charset="-122"/>
                <a:cs typeface="Calibri" pitchFamily="34" charset="-120"/>
              </a:rPr>
              <a:t>sentence-transformers for semantic chunking and vector mapping.</a:t>
            </a:r>
            <a:endParaRPr lang="en-US" sz="1500" dirty="0"/>
          </a:p>
        </p:txBody>
      </p:sp>
      <p:sp>
        <p:nvSpPr>
          <p:cNvPr id="10" name="card2"/>
          <p:cNvSpPr/>
          <p:nvPr/>
        </p:nvSpPr>
        <p:spPr>
          <a:xfrm>
            <a:off x="548640" y="3202686"/>
            <a:ext cx="8046720" cy="682371"/>
          </a:xfrm>
          <a:prstGeom prst="roundRect">
            <a:avLst>
              <a:gd name="adj" fmla="val 10720"/>
            </a:avLst>
          </a:prstGeom>
          <a:solidFill>
            <a:srgbClr val="16213A"/>
          </a:solidFill>
          <a:ln w="12700">
            <a:solidFill>
              <a:srgbClr val="16213A"/>
            </a:solidFill>
            <a:prstDash val="solid"/>
          </a:ln>
        </p:spPr>
      </p:sp>
      <p:sp>
        <p:nvSpPr>
          <p:cNvPr id="11" name="bar2"/>
          <p:cNvSpPr/>
          <p:nvPr/>
        </p:nvSpPr>
        <p:spPr>
          <a:xfrm>
            <a:off x="548640" y="3312414"/>
            <a:ext cx="64008" cy="462915"/>
          </a:xfrm>
          <a:prstGeom prst="rect">
            <a:avLst/>
          </a:prstGeom>
          <a:solidFill>
            <a:srgbClr val="34D399"/>
          </a:solidFill>
          <a:ln w="12700">
            <a:solidFill>
              <a:srgbClr val="34D399"/>
            </a:solidFill>
            <a:prstDash val="solid"/>
          </a:ln>
        </p:spPr>
      </p:sp>
      <p:sp>
        <p:nvSpPr>
          <p:cNvPr id="12" name="Text 10"/>
          <p:cNvSpPr txBox="1"/>
          <p:nvPr/>
        </p:nvSpPr>
        <p:spPr>
          <a:xfrm>
            <a:off x="822960" y="3202686"/>
            <a:ext cx="7589520" cy="682371"/>
          </a:xfrm>
          <a:prstGeom prst="rect">
            <a:avLst/>
          </a:prstGeom>
          <a:noFill/>
          <a:ln/>
        </p:spPr>
        <p:txBody>
          <a:bodyPr wrap="square" lIns="0" tIns="0" rIns="0" bIns="0" rtlCol="0" anchor="ctr"/>
          <a:lstStyle/>
          <a:p>
            <a:pPr indent="0" marL="0">
              <a:buNone/>
            </a:pPr>
            <a:r>
              <a:rPr lang="en-US" sz="1500" b="1" dirty="0">
                <a:solidFill>
                  <a:srgbClr val="34D399"/>
                </a:solidFill>
                <a:latin typeface="Calibri" pitchFamily="34" charset="0"/>
                <a:ea typeface="Calibri" pitchFamily="34" charset="-122"/>
                <a:cs typeface="Calibri" pitchFamily="34" charset="-120"/>
              </a:rPr>
              <a:t>Intelligence Core</a:t>
            </a:r>
            <a:endParaRPr lang="en-US" sz="1500" dirty="0"/>
          </a:p>
          <a:p>
            <a:pPr indent="0" marL="0">
              <a:buNone/>
            </a:pPr>
            <a:r>
              <a:rPr lang="en-US" sz="1300" dirty="0">
                <a:solidFill>
                  <a:srgbClr val="F1F5F9"/>
                </a:solidFill>
                <a:latin typeface="Calibri" pitchFamily="34" charset="0"/>
                <a:ea typeface="Calibri" pitchFamily="34" charset="-122"/>
                <a:cs typeface="Calibri" pitchFamily="34" charset="-120"/>
              </a:rPr>
              <a:t>Google Gemma 4, optimized for strict context adherence.</a:t>
            </a:r>
            <a:endParaRPr lang="en-US" sz="1500" dirty="0"/>
          </a:p>
        </p:txBody>
      </p:sp>
      <p:sp>
        <p:nvSpPr>
          <p:cNvPr id="13" name="card3"/>
          <p:cNvSpPr/>
          <p:nvPr/>
        </p:nvSpPr>
        <p:spPr>
          <a:xfrm>
            <a:off x="548640" y="4049649"/>
            <a:ext cx="8046720" cy="682371"/>
          </a:xfrm>
          <a:prstGeom prst="roundRect">
            <a:avLst>
              <a:gd name="adj" fmla="val 10720"/>
            </a:avLst>
          </a:prstGeom>
          <a:solidFill>
            <a:srgbClr val="16213A"/>
          </a:solidFill>
          <a:ln w="12700">
            <a:solidFill>
              <a:srgbClr val="16213A"/>
            </a:solidFill>
            <a:prstDash val="solid"/>
          </a:ln>
        </p:spPr>
      </p:sp>
      <p:sp>
        <p:nvSpPr>
          <p:cNvPr id="14" name="bar3"/>
          <p:cNvSpPr/>
          <p:nvPr/>
        </p:nvSpPr>
        <p:spPr>
          <a:xfrm>
            <a:off x="548640" y="4159377"/>
            <a:ext cx="64008" cy="462915"/>
          </a:xfrm>
          <a:prstGeom prst="rect">
            <a:avLst/>
          </a:prstGeom>
          <a:solidFill>
            <a:srgbClr val="FBBF24"/>
          </a:solidFill>
          <a:ln w="12700">
            <a:solidFill>
              <a:srgbClr val="FBBF24"/>
            </a:solidFill>
            <a:prstDash val="solid"/>
          </a:ln>
        </p:spPr>
      </p:sp>
      <p:sp>
        <p:nvSpPr>
          <p:cNvPr id="15" name="Text 13"/>
          <p:cNvSpPr txBox="1"/>
          <p:nvPr/>
        </p:nvSpPr>
        <p:spPr>
          <a:xfrm>
            <a:off x="822960" y="4049649"/>
            <a:ext cx="7589520" cy="682371"/>
          </a:xfrm>
          <a:prstGeom prst="rect">
            <a:avLst/>
          </a:prstGeom>
          <a:noFill/>
          <a:ln/>
        </p:spPr>
        <p:txBody>
          <a:bodyPr wrap="square" lIns="0" tIns="0" rIns="0" bIns="0" rtlCol="0" anchor="ctr"/>
          <a:lstStyle/>
          <a:p>
            <a:pPr indent="0" marL="0">
              <a:buNone/>
            </a:pPr>
            <a:r>
              <a:rPr lang="en-US" sz="1500" b="1" dirty="0">
                <a:solidFill>
                  <a:srgbClr val="FBBF24"/>
                </a:solidFill>
                <a:latin typeface="Calibri" pitchFamily="34" charset="0"/>
                <a:ea typeface="Calibri" pitchFamily="34" charset="-122"/>
                <a:cs typeface="Calibri" pitchFamily="34" charset="-120"/>
              </a:rPr>
              <a:t>Transparency First</a:t>
            </a:r>
            <a:endParaRPr lang="en-US" sz="1500" dirty="0"/>
          </a:p>
          <a:p>
            <a:pPr indent="0" marL="0">
              <a:buNone/>
            </a:pPr>
            <a:r>
              <a:rPr lang="en-US" sz="1300" dirty="0">
                <a:solidFill>
                  <a:srgbClr val="F1F5F9"/>
                </a:solidFill>
                <a:latin typeface="Calibri" pitchFamily="34" charset="0"/>
                <a:ea typeface="Calibri" pitchFamily="34" charset="-122"/>
                <a:cs typeface="Calibri" pitchFamily="34" charset="-120"/>
              </a:rPr>
              <a:t>Retrieval viewer shows the exact source passages behind every answer.</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74320"/>
          </a:xfrm>
          <a:prstGeom prst="rect">
            <a:avLst/>
          </a:prstGeom>
          <a:noFill/>
          <a:ln/>
        </p:spPr>
        <p:txBody>
          <a:bodyPr wrap="square" lIns="0" tIns="0" rIns="0" bIns="0" rtlCol="0" anchor="ctr"/>
          <a:lstStyle/>
          <a:p>
            <a:pPr indent="0" marL="0">
              <a:buNone/>
            </a:pPr>
            <a:r>
              <a:rPr lang="en-US" sz="1200" b="1" spc="300" kern="0" dirty="0">
                <a:solidFill>
                  <a:srgbClr val="38BDF8"/>
                </a:solidFill>
                <a:latin typeface="Calibri" pitchFamily="34" charset="0"/>
                <a:ea typeface="Calibri" pitchFamily="34" charset="-122"/>
                <a:cs typeface="Calibri" pitchFamily="34" charset="-120"/>
              </a:rPr>
              <a:t>IMPLEMENTATION</a:t>
            </a:r>
            <a:endParaRPr lang="en-US" sz="1200" dirty="0"/>
          </a:p>
        </p:txBody>
      </p:sp>
      <p:sp>
        <p:nvSpPr>
          <p:cNvPr id="3" name="Text 1"/>
          <p:cNvSpPr txBox="1"/>
          <p:nvPr/>
        </p:nvSpPr>
        <p:spPr>
          <a:xfrm>
            <a:off x="548640" y="594360"/>
            <a:ext cx="8046720" cy="73152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Solving Multi-File Parsing &amp; Hallucinations</a:t>
            </a:r>
            <a:endParaRPr lang="en-US" sz="2800" dirty="0"/>
          </a:p>
        </p:txBody>
      </p:sp>
      <p:sp>
        <p:nvSpPr>
          <p:cNvPr id="4" name="card0"/>
          <p:cNvSpPr/>
          <p:nvPr/>
        </p:nvSpPr>
        <p:spPr>
          <a:xfrm>
            <a:off x="548640" y="1508760"/>
            <a:ext cx="8046720" cy="964692"/>
          </a:xfrm>
          <a:prstGeom prst="roundRect">
            <a:avLst>
              <a:gd name="adj" fmla="val 7583"/>
            </a:avLst>
          </a:prstGeom>
          <a:solidFill>
            <a:srgbClr val="16213A"/>
          </a:solidFill>
          <a:ln w="12700">
            <a:solidFill>
              <a:srgbClr val="16213A"/>
            </a:solidFill>
            <a:prstDash val="solid"/>
          </a:ln>
        </p:spPr>
      </p:sp>
      <p:sp>
        <p:nvSpPr>
          <p:cNvPr id="5" name="bar0"/>
          <p:cNvSpPr/>
          <p:nvPr/>
        </p:nvSpPr>
        <p:spPr>
          <a:xfrm>
            <a:off x="548640" y="1618488"/>
            <a:ext cx="64008" cy="745236"/>
          </a:xfrm>
          <a:prstGeom prst="rect">
            <a:avLst/>
          </a:prstGeom>
          <a:solidFill>
            <a:srgbClr val="38BDF8"/>
          </a:solidFill>
          <a:ln w="12700">
            <a:solidFill>
              <a:srgbClr val="38BDF8"/>
            </a:solidFill>
            <a:prstDash val="solid"/>
          </a:ln>
        </p:spPr>
      </p:sp>
      <p:sp>
        <p:nvSpPr>
          <p:cNvPr id="6" name="Text 4"/>
          <p:cNvSpPr txBox="1"/>
          <p:nvPr/>
        </p:nvSpPr>
        <p:spPr>
          <a:xfrm>
            <a:off x="822960" y="1508760"/>
            <a:ext cx="7589520" cy="964692"/>
          </a:xfrm>
          <a:prstGeom prst="rect">
            <a:avLst/>
          </a:prstGeom>
          <a:noFill/>
          <a:ln/>
        </p:spPr>
        <p:txBody>
          <a:bodyPr wrap="square" lIns="0" tIns="0" rIns="0" bIns="0" rtlCol="0" anchor="ctr"/>
          <a:lstStyle/>
          <a:p>
            <a:pPr indent="0" marL="0">
              <a:buNone/>
            </a:pPr>
            <a:r>
              <a:rPr lang="en-US" sz="1500" b="1" dirty="0">
                <a:solidFill>
                  <a:srgbClr val="38BDF8"/>
                </a:solidFill>
                <a:latin typeface="Calibri" pitchFamily="34" charset="0"/>
                <a:ea typeface="Calibri" pitchFamily="34" charset="-122"/>
                <a:cs typeface="Calibri" pitchFamily="34" charset="-120"/>
              </a:rPr>
              <a:t>Multi-Doc Ingestion</a:t>
            </a:r>
            <a:endParaRPr lang="en-US" sz="1500" dirty="0"/>
          </a:p>
          <a:p>
            <a:pPr indent="0" marL="0">
              <a:buNone/>
            </a:pPr>
            <a:r>
              <a:rPr lang="en-US" sz="1300" dirty="0">
                <a:solidFill>
                  <a:srgbClr val="F1F5F9"/>
                </a:solidFill>
                <a:latin typeface="Calibri" pitchFamily="34" charset="0"/>
                <a:ea typeface="Calibri" pitchFamily="34" charset="-122"/>
                <a:cs typeface="Calibri" pitchFamily="34" charset="-120"/>
              </a:rPr>
              <a:t>Handles multiple .md and .txt files at once, with file tags like [File: README.md].</a:t>
            </a:r>
            <a:endParaRPr lang="en-US" sz="1500" dirty="0"/>
          </a:p>
        </p:txBody>
      </p:sp>
      <p:sp>
        <p:nvSpPr>
          <p:cNvPr id="7" name="card1"/>
          <p:cNvSpPr/>
          <p:nvPr/>
        </p:nvSpPr>
        <p:spPr>
          <a:xfrm>
            <a:off x="548640" y="2638044"/>
            <a:ext cx="8046720" cy="964692"/>
          </a:xfrm>
          <a:prstGeom prst="roundRect">
            <a:avLst>
              <a:gd name="adj" fmla="val 7583"/>
            </a:avLst>
          </a:prstGeom>
          <a:solidFill>
            <a:srgbClr val="16213A"/>
          </a:solidFill>
          <a:ln w="12700">
            <a:solidFill>
              <a:srgbClr val="16213A"/>
            </a:solidFill>
            <a:prstDash val="solid"/>
          </a:ln>
        </p:spPr>
      </p:sp>
      <p:sp>
        <p:nvSpPr>
          <p:cNvPr id="8" name="bar1"/>
          <p:cNvSpPr/>
          <p:nvPr/>
        </p:nvSpPr>
        <p:spPr>
          <a:xfrm>
            <a:off x="548640" y="2747772"/>
            <a:ext cx="64008" cy="745236"/>
          </a:xfrm>
          <a:prstGeom prst="rect">
            <a:avLst/>
          </a:prstGeom>
          <a:solidFill>
            <a:srgbClr val="A78BFA"/>
          </a:solidFill>
          <a:ln w="12700">
            <a:solidFill>
              <a:srgbClr val="A78BFA"/>
            </a:solidFill>
            <a:prstDash val="solid"/>
          </a:ln>
        </p:spPr>
      </p:sp>
      <p:sp>
        <p:nvSpPr>
          <p:cNvPr id="9" name="Text 7"/>
          <p:cNvSpPr txBox="1"/>
          <p:nvPr/>
        </p:nvSpPr>
        <p:spPr>
          <a:xfrm>
            <a:off x="822960" y="2638044"/>
            <a:ext cx="7589520" cy="964692"/>
          </a:xfrm>
          <a:prstGeom prst="rect">
            <a:avLst/>
          </a:prstGeom>
          <a:noFill/>
          <a:ln/>
        </p:spPr>
        <p:txBody>
          <a:bodyPr wrap="square" lIns="0" tIns="0" rIns="0" bIns="0" rtlCol="0" anchor="ctr"/>
          <a:lstStyle/>
          <a:p>
            <a:pPr indent="0" marL="0">
              <a:buNone/>
            </a:pPr>
            <a:r>
              <a:rPr lang="en-US" sz="1500" b="1" dirty="0">
                <a:solidFill>
                  <a:srgbClr val="A78BFA"/>
                </a:solidFill>
                <a:latin typeface="Calibri" pitchFamily="34" charset="0"/>
                <a:ea typeface="Calibri" pitchFamily="34" charset="-122"/>
                <a:cs typeface="Calibri" pitchFamily="34" charset="-120"/>
              </a:rPr>
              <a:t>Strict Hallucination Guardrails</a:t>
            </a:r>
            <a:endParaRPr lang="en-US" sz="1500" dirty="0"/>
          </a:p>
          <a:p>
            <a:pPr indent="0" marL="0">
              <a:buNone/>
            </a:pPr>
            <a:r>
              <a:rPr lang="en-US" sz="1300" dirty="0">
                <a:solidFill>
                  <a:srgbClr val="F1F5F9"/>
                </a:solidFill>
                <a:latin typeface="Calibri" pitchFamily="34" charset="0"/>
                <a:ea typeface="Calibri" pitchFamily="34" charset="-122"/>
                <a:cs typeface="Calibri" pitchFamily="34" charset="-120"/>
              </a:rPr>
              <a:t>ANSWER_RULES system prompt limits the LLM to the provided context only.</a:t>
            </a:r>
            <a:endParaRPr lang="en-US" sz="1500" dirty="0"/>
          </a:p>
        </p:txBody>
      </p:sp>
      <p:sp>
        <p:nvSpPr>
          <p:cNvPr id="10" name="card2"/>
          <p:cNvSpPr/>
          <p:nvPr/>
        </p:nvSpPr>
        <p:spPr>
          <a:xfrm>
            <a:off x="548640" y="3767328"/>
            <a:ext cx="8046720" cy="964692"/>
          </a:xfrm>
          <a:prstGeom prst="roundRect">
            <a:avLst>
              <a:gd name="adj" fmla="val 7583"/>
            </a:avLst>
          </a:prstGeom>
          <a:solidFill>
            <a:srgbClr val="16213A"/>
          </a:solidFill>
          <a:ln w="12700">
            <a:solidFill>
              <a:srgbClr val="16213A"/>
            </a:solidFill>
            <a:prstDash val="solid"/>
          </a:ln>
        </p:spPr>
      </p:sp>
      <p:sp>
        <p:nvSpPr>
          <p:cNvPr id="11" name="bar2"/>
          <p:cNvSpPr/>
          <p:nvPr/>
        </p:nvSpPr>
        <p:spPr>
          <a:xfrm>
            <a:off x="548640" y="3877056"/>
            <a:ext cx="64008" cy="745236"/>
          </a:xfrm>
          <a:prstGeom prst="rect">
            <a:avLst/>
          </a:prstGeom>
          <a:solidFill>
            <a:srgbClr val="34D399"/>
          </a:solidFill>
          <a:ln w="12700">
            <a:solidFill>
              <a:srgbClr val="34D399"/>
            </a:solidFill>
            <a:prstDash val="solid"/>
          </a:ln>
        </p:spPr>
      </p:sp>
      <p:sp>
        <p:nvSpPr>
          <p:cNvPr id="12" name="Text 10"/>
          <p:cNvSpPr txBox="1"/>
          <p:nvPr/>
        </p:nvSpPr>
        <p:spPr>
          <a:xfrm>
            <a:off x="822960" y="3767328"/>
            <a:ext cx="7589520" cy="964692"/>
          </a:xfrm>
          <a:prstGeom prst="rect">
            <a:avLst/>
          </a:prstGeom>
          <a:noFill/>
          <a:ln/>
        </p:spPr>
        <p:txBody>
          <a:bodyPr wrap="square" lIns="0" tIns="0" rIns="0" bIns="0" rtlCol="0" anchor="ctr"/>
          <a:lstStyle/>
          <a:p>
            <a:pPr indent="0" marL="0">
              <a:buNone/>
            </a:pPr>
            <a:r>
              <a:rPr lang="en-US" sz="1500" b="1" dirty="0">
                <a:solidFill>
                  <a:srgbClr val="34D399"/>
                </a:solidFill>
                <a:latin typeface="Calibri" pitchFamily="34" charset="0"/>
                <a:ea typeface="Calibri" pitchFamily="34" charset="-122"/>
                <a:cs typeface="Calibri" pitchFamily="34" charset="-120"/>
              </a:rPr>
              <a:t>Graceful Refusal</a:t>
            </a:r>
            <a:endParaRPr lang="en-US" sz="1500" dirty="0"/>
          </a:p>
          <a:p>
            <a:pPr indent="0" marL="0">
              <a:buNone/>
            </a:pPr>
            <a:r>
              <a:rPr lang="en-US" sz="1300" dirty="0">
                <a:solidFill>
                  <a:srgbClr val="F1F5F9"/>
                </a:solidFill>
                <a:latin typeface="Calibri" pitchFamily="34" charset="0"/>
                <a:ea typeface="Calibri" pitchFamily="34" charset="-122"/>
                <a:cs typeface="Calibri" pitchFamily="34" charset="-120"/>
              </a:rPr>
              <a:t>Declines out-of-scope or general-knowledge queries instead of inventing answers.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74320"/>
          </a:xfrm>
          <a:prstGeom prst="rect">
            <a:avLst/>
          </a:prstGeom>
          <a:noFill/>
          <a:ln/>
        </p:spPr>
        <p:txBody>
          <a:bodyPr wrap="square" lIns="0" tIns="0" rIns="0" bIns="0" rtlCol="0" anchor="ctr"/>
          <a:lstStyle/>
          <a:p>
            <a:pPr indent="0" marL="0">
              <a:buNone/>
            </a:pPr>
            <a:r>
              <a:rPr lang="en-US" sz="1200" b="1" spc="300" kern="0" dirty="0">
                <a:solidFill>
                  <a:srgbClr val="38BDF8"/>
                </a:solidFill>
                <a:latin typeface="Calibri" pitchFamily="34" charset="0"/>
                <a:ea typeface="Calibri" pitchFamily="34" charset="-122"/>
                <a:cs typeface="Calibri" pitchFamily="34" charset="-120"/>
              </a:rPr>
              <a:t>INNOVATION</a:t>
            </a:r>
            <a:endParaRPr lang="en-US" sz="1200" dirty="0"/>
          </a:p>
        </p:txBody>
      </p:sp>
      <p:sp>
        <p:nvSpPr>
          <p:cNvPr id="3" name="Text 1"/>
          <p:cNvSpPr txBox="1"/>
          <p:nvPr/>
        </p:nvSpPr>
        <p:spPr>
          <a:xfrm>
            <a:off x="548640" y="594360"/>
            <a:ext cx="8046720" cy="73152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Built for Impact: Key Bonus Features</a:t>
            </a:r>
            <a:endParaRPr lang="en-US" sz="2800" dirty="0"/>
          </a:p>
        </p:txBody>
      </p:sp>
      <p:sp>
        <p:nvSpPr>
          <p:cNvPr id="4" name="card0"/>
          <p:cNvSpPr/>
          <p:nvPr/>
        </p:nvSpPr>
        <p:spPr>
          <a:xfrm>
            <a:off x="548640" y="1508760"/>
            <a:ext cx="8046720" cy="964692"/>
          </a:xfrm>
          <a:prstGeom prst="roundRect">
            <a:avLst>
              <a:gd name="adj" fmla="val 7583"/>
            </a:avLst>
          </a:prstGeom>
          <a:solidFill>
            <a:srgbClr val="16213A"/>
          </a:solidFill>
          <a:ln w="12700">
            <a:solidFill>
              <a:srgbClr val="16213A"/>
            </a:solidFill>
            <a:prstDash val="solid"/>
          </a:ln>
        </p:spPr>
      </p:sp>
      <p:sp>
        <p:nvSpPr>
          <p:cNvPr id="5" name="bar0"/>
          <p:cNvSpPr/>
          <p:nvPr/>
        </p:nvSpPr>
        <p:spPr>
          <a:xfrm>
            <a:off x="548640" y="1618488"/>
            <a:ext cx="64008" cy="745236"/>
          </a:xfrm>
          <a:prstGeom prst="rect">
            <a:avLst/>
          </a:prstGeom>
          <a:solidFill>
            <a:srgbClr val="38BDF8"/>
          </a:solidFill>
          <a:ln w="12700">
            <a:solidFill>
              <a:srgbClr val="38BDF8"/>
            </a:solidFill>
            <a:prstDash val="solid"/>
          </a:ln>
        </p:spPr>
      </p:sp>
      <p:sp>
        <p:nvSpPr>
          <p:cNvPr id="6" name="Text 4"/>
          <p:cNvSpPr txBox="1"/>
          <p:nvPr/>
        </p:nvSpPr>
        <p:spPr>
          <a:xfrm>
            <a:off x="822960" y="1508760"/>
            <a:ext cx="7589520" cy="964692"/>
          </a:xfrm>
          <a:prstGeom prst="rect">
            <a:avLst/>
          </a:prstGeom>
          <a:noFill/>
          <a:ln/>
        </p:spPr>
        <p:txBody>
          <a:bodyPr wrap="square" lIns="0" tIns="0" rIns="0" bIns="0" rtlCol="0" anchor="ctr"/>
          <a:lstStyle/>
          <a:p>
            <a:pPr indent="0" marL="0">
              <a:buNone/>
            </a:pPr>
            <a:r>
              <a:rPr lang="en-US" sz="1500" b="1" dirty="0">
                <a:solidFill>
                  <a:srgbClr val="38BDF8"/>
                </a:solidFill>
                <a:latin typeface="Calibri" pitchFamily="34" charset="0"/>
                <a:ea typeface="Calibri" pitchFamily="34" charset="-122"/>
                <a:cs typeface="Calibri" pitchFamily="34" charset="-120"/>
              </a:rPr>
              <a:t>Instant Onboarding Checklist</a:t>
            </a:r>
            <a:endParaRPr lang="en-US" sz="1500" dirty="0"/>
          </a:p>
          <a:p>
            <a:pPr indent="0" marL="0">
              <a:buNone/>
            </a:pPr>
            <a:r>
              <a:rPr lang="en-US" sz="1300" dirty="0">
                <a:solidFill>
                  <a:srgbClr val="F1F5F9"/>
                </a:solidFill>
                <a:latin typeface="Calibri" pitchFamily="34" charset="0"/>
                <a:ea typeface="Calibri" pitchFamily="34" charset="-122"/>
                <a:cs typeface="Calibri" pitchFamily="34" charset="-120"/>
              </a:rPr>
              <a:t>One click turns "Where do I start?" into a tailored contributor roadmap.</a:t>
            </a:r>
            <a:endParaRPr lang="en-US" sz="1500" dirty="0"/>
          </a:p>
        </p:txBody>
      </p:sp>
      <p:sp>
        <p:nvSpPr>
          <p:cNvPr id="7" name="card1"/>
          <p:cNvSpPr/>
          <p:nvPr/>
        </p:nvSpPr>
        <p:spPr>
          <a:xfrm>
            <a:off x="548640" y="2638044"/>
            <a:ext cx="8046720" cy="964692"/>
          </a:xfrm>
          <a:prstGeom prst="roundRect">
            <a:avLst>
              <a:gd name="adj" fmla="val 7583"/>
            </a:avLst>
          </a:prstGeom>
          <a:solidFill>
            <a:srgbClr val="16213A"/>
          </a:solidFill>
          <a:ln w="12700">
            <a:solidFill>
              <a:srgbClr val="16213A"/>
            </a:solidFill>
            <a:prstDash val="solid"/>
          </a:ln>
        </p:spPr>
      </p:sp>
      <p:sp>
        <p:nvSpPr>
          <p:cNvPr id="8" name="bar1"/>
          <p:cNvSpPr/>
          <p:nvPr/>
        </p:nvSpPr>
        <p:spPr>
          <a:xfrm>
            <a:off x="548640" y="2747772"/>
            <a:ext cx="64008" cy="745236"/>
          </a:xfrm>
          <a:prstGeom prst="rect">
            <a:avLst/>
          </a:prstGeom>
          <a:solidFill>
            <a:srgbClr val="A78BFA"/>
          </a:solidFill>
          <a:ln w="12700">
            <a:solidFill>
              <a:srgbClr val="A78BFA"/>
            </a:solidFill>
            <a:prstDash val="solid"/>
          </a:ln>
        </p:spPr>
      </p:sp>
      <p:sp>
        <p:nvSpPr>
          <p:cNvPr id="9" name="Text 7"/>
          <p:cNvSpPr txBox="1"/>
          <p:nvPr/>
        </p:nvSpPr>
        <p:spPr>
          <a:xfrm>
            <a:off x="822960" y="2638044"/>
            <a:ext cx="7589520" cy="964692"/>
          </a:xfrm>
          <a:prstGeom prst="rect">
            <a:avLst/>
          </a:prstGeom>
          <a:noFill/>
          <a:ln/>
        </p:spPr>
        <p:txBody>
          <a:bodyPr wrap="square" lIns="0" tIns="0" rIns="0" bIns="0" rtlCol="0" anchor="ctr"/>
          <a:lstStyle/>
          <a:p>
            <a:pPr indent="0" marL="0">
              <a:buNone/>
            </a:pPr>
            <a:r>
              <a:rPr lang="en-US" sz="1500" b="1" dirty="0">
                <a:solidFill>
                  <a:srgbClr val="A78BFA"/>
                </a:solidFill>
                <a:latin typeface="Calibri" pitchFamily="34" charset="0"/>
                <a:ea typeface="Calibri" pitchFamily="34" charset="-122"/>
                <a:cs typeface="Calibri" pitchFamily="34" charset="-120"/>
              </a:rPr>
              <a:t>Multi-Doc Synthesis</a:t>
            </a:r>
            <a:endParaRPr lang="en-US" sz="1500" dirty="0"/>
          </a:p>
          <a:p>
            <a:pPr indent="0" marL="0">
              <a:buNone/>
            </a:pPr>
            <a:r>
              <a:rPr lang="en-US" sz="1300" dirty="0">
                <a:solidFill>
                  <a:srgbClr val="F1F5F9"/>
                </a:solidFill>
                <a:latin typeface="Calibri" pitchFamily="34" charset="0"/>
                <a:ea typeface="Calibri" pitchFamily="34" charset="-122"/>
                <a:cs typeface="Calibri" pitchFamily="34" charset="-120"/>
              </a:rPr>
              <a:t>Cross-references setup instructions and Pull Request rules across files.</a:t>
            </a:r>
            <a:endParaRPr lang="en-US" sz="1500" dirty="0"/>
          </a:p>
        </p:txBody>
      </p:sp>
      <p:sp>
        <p:nvSpPr>
          <p:cNvPr id="10" name="card2"/>
          <p:cNvSpPr/>
          <p:nvPr/>
        </p:nvSpPr>
        <p:spPr>
          <a:xfrm>
            <a:off x="548640" y="3767328"/>
            <a:ext cx="8046720" cy="964692"/>
          </a:xfrm>
          <a:prstGeom prst="roundRect">
            <a:avLst>
              <a:gd name="adj" fmla="val 7583"/>
            </a:avLst>
          </a:prstGeom>
          <a:solidFill>
            <a:srgbClr val="16213A"/>
          </a:solidFill>
          <a:ln w="12700">
            <a:solidFill>
              <a:srgbClr val="16213A"/>
            </a:solidFill>
            <a:prstDash val="solid"/>
          </a:ln>
        </p:spPr>
      </p:sp>
      <p:sp>
        <p:nvSpPr>
          <p:cNvPr id="11" name="bar2"/>
          <p:cNvSpPr/>
          <p:nvPr/>
        </p:nvSpPr>
        <p:spPr>
          <a:xfrm>
            <a:off x="548640" y="3877056"/>
            <a:ext cx="64008" cy="745236"/>
          </a:xfrm>
          <a:prstGeom prst="rect">
            <a:avLst/>
          </a:prstGeom>
          <a:solidFill>
            <a:srgbClr val="34D399"/>
          </a:solidFill>
          <a:ln w="12700">
            <a:solidFill>
              <a:srgbClr val="34D399"/>
            </a:solidFill>
            <a:prstDash val="solid"/>
          </a:ln>
        </p:spPr>
      </p:sp>
      <p:sp>
        <p:nvSpPr>
          <p:cNvPr id="12" name="Text 10"/>
          <p:cNvSpPr txBox="1"/>
          <p:nvPr/>
        </p:nvSpPr>
        <p:spPr>
          <a:xfrm>
            <a:off x="822960" y="3767328"/>
            <a:ext cx="7589520" cy="964692"/>
          </a:xfrm>
          <a:prstGeom prst="rect">
            <a:avLst/>
          </a:prstGeom>
          <a:noFill/>
          <a:ln/>
        </p:spPr>
        <p:txBody>
          <a:bodyPr wrap="square" lIns="0" tIns="0" rIns="0" bIns="0" rtlCol="0" anchor="ctr"/>
          <a:lstStyle/>
          <a:p>
            <a:pPr indent="0" marL="0">
              <a:buNone/>
            </a:pPr>
            <a:r>
              <a:rPr lang="en-US" sz="1500" b="1" dirty="0">
                <a:solidFill>
                  <a:srgbClr val="34D399"/>
                </a:solidFill>
                <a:latin typeface="Calibri" pitchFamily="34" charset="0"/>
                <a:ea typeface="Calibri" pitchFamily="34" charset="-122"/>
                <a:cs typeface="Calibri" pitchFamily="34" charset="-120"/>
              </a:rPr>
              <a:t>Zero Hallucination Guarantee</a:t>
            </a:r>
            <a:endParaRPr lang="en-US" sz="1500" dirty="0"/>
          </a:p>
          <a:p>
            <a:pPr indent="0" marL="0">
              <a:buNone/>
            </a:pPr>
            <a:r>
              <a:rPr lang="en-US" sz="1300" dirty="0">
                <a:solidFill>
                  <a:srgbClr val="F1F5F9"/>
                </a:solidFill>
                <a:latin typeface="Calibri" pitchFamily="34" charset="0"/>
                <a:ea typeface="Calibri" pitchFamily="34" charset="-122"/>
                <a:cs typeface="Calibri" pitchFamily="34" charset="-120"/>
              </a:rPr>
              <a:t>Validated safety mechanisms against out-of-scope questions.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74320"/>
          </a:xfrm>
          <a:prstGeom prst="rect">
            <a:avLst/>
          </a:prstGeom>
          <a:noFill/>
          <a:ln/>
        </p:spPr>
        <p:txBody>
          <a:bodyPr wrap="square" lIns="0" tIns="0" rIns="0" bIns="0" rtlCol="0" anchor="ctr"/>
          <a:lstStyle/>
          <a:p>
            <a:pPr indent="0" marL="0">
              <a:buNone/>
            </a:pPr>
            <a:r>
              <a:rPr lang="en-US" sz="1200" b="1" spc="300" kern="0" dirty="0">
                <a:solidFill>
                  <a:srgbClr val="38BDF8"/>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548640" y="594360"/>
            <a:ext cx="8046720" cy="731520"/>
          </a:xfrm>
          <a:prstGeom prst="rect">
            <a:avLst/>
          </a:prstGeom>
          <a:noFill/>
          <a:ln/>
        </p:spPr>
        <p:txBody>
          <a:bodyPr wrap="square" lIns="0" tIns="0" rIns="0" bIns="0" rtlCol="0" anchor="t"/>
          <a:lstStyle/>
          <a:p>
            <a:pPr indent="0" marL="0">
              <a:buNone/>
            </a:pPr>
            <a:r>
              <a:rPr lang="en-US" sz="2800" b="1" dirty="0">
                <a:solidFill>
                  <a:srgbClr val="F1F5F9"/>
                </a:solidFill>
                <a:latin typeface="Calibri" pitchFamily="34" charset="0"/>
                <a:ea typeface="Calibri" pitchFamily="34" charset="-122"/>
                <a:cs typeface="Calibri" pitchFamily="34" charset="-120"/>
              </a:rPr>
              <a:t>Evaluation &amp; Performance Metrics</a:t>
            </a:r>
            <a:endParaRPr lang="en-US" sz="2800" dirty="0"/>
          </a:p>
        </p:txBody>
      </p:sp>
      <p:sp>
        <p:nvSpPr>
          <p:cNvPr id="4" name="stat0"/>
          <p:cNvSpPr/>
          <p:nvPr/>
        </p:nvSpPr>
        <p:spPr>
          <a:xfrm>
            <a:off x="548640" y="1645920"/>
            <a:ext cx="2560320" cy="2834640"/>
          </a:xfrm>
          <a:prstGeom prst="roundRect">
            <a:avLst>
              <a:gd name="adj" fmla="val 2857"/>
            </a:avLst>
          </a:prstGeom>
          <a:solidFill>
            <a:srgbClr val="16213A"/>
          </a:solidFill>
          <a:ln w="12700">
            <a:solidFill>
              <a:srgbClr val="16213A"/>
            </a:solidFill>
            <a:prstDash val="solid"/>
          </a:ln>
        </p:spPr>
      </p:sp>
      <p:sp>
        <p:nvSpPr>
          <p:cNvPr id="5" name="Text 3"/>
          <p:cNvSpPr txBox="1"/>
          <p:nvPr/>
        </p:nvSpPr>
        <p:spPr>
          <a:xfrm>
            <a:off x="731520" y="1828800"/>
            <a:ext cx="2194560" cy="914400"/>
          </a:xfrm>
          <a:prstGeom prst="rect">
            <a:avLst/>
          </a:prstGeom>
          <a:noFill/>
          <a:ln/>
        </p:spPr>
        <p:txBody>
          <a:bodyPr wrap="square" lIns="0" tIns="0" rIns="0" bIns="0" rtlCol="0" anchor="ctr"/>
          <a:lstStyle/>
          <a:p>
            <a:pPr indent="0" marL="0">
              <a:buNone/>
            </a:pPr>
            <a:r>
              <a:rPr lang="en-US" sz="4800" b="1" dirty="0">
                <a:solidFill>
                  <a:srgbClr val="38BDF8"/>
                </a:solidFill>
                <a:latin typeface="Calibri" pitchFamily="34" charset="0"/>
                <a:ea typeface="Calibri" pitchFamily="34" charset="-122"/>
                <a:cs typeface="Calibri" pitchFamily="34" charset="-120"/>
              </a:rPr>
              <a:t>15</a:t>
            </a:r>
            <a:endParaRPr lang="en-US" sz="4800" dirty="0"/>
          </a:p>
        </p:txBody>
      </p:sp>
      <p:sp>
        <p:nvSpPr>
          <p:cNvPr id="6" name="Text 4"/>
          <p:cNvSpPr txBox="1"/>
          <p:nvPr/>
        </p:nvSpPr>
        <p:spPr>
          <a:xfrm>
            <a:off x="731520" y="2834640"/>
            <a:ext cx="2194560" cy="1463040"/>
          </a:xfrm>
          <a:prstGeom prst="rect">
            <a:avLst/>
          </a:prstGeom>
          <a:noFill/>
          <a:ln/>
        </p:spPr>
        <p:txBody>
          <a:bodyPr wrap="square" lIns="0" tIns="0" rIns="0" bIns="0" rtlCol="0" anchor="t"/>
          <a:lstStyle/>
          <a:p>
            <a:pPr indent="0" marL="0">
              <a:buNone/>
            </a:pPr>
            <a:r>
              <a:rPr lang="en-US" sz="1600" b="1" dirty="0">
                <a:solidFill>
                  <a:srgbClr val="F1F5F9"/>
                </a:solidFill>
                <a:latin typeface="Calibri" pitchFamily="34" charset="0"/>
                <a:ea typeface="Calibri" pitchFamily="34" charset="-122"/>
                <a:cs typeface="Calibri" pitchFamily="34" charset="-120"/>
              </a:rPr>
              <a:t>Question test set</a:t>
            </a:r>
            <a:endParaRPr lang="en-US" sz="1600" dirty="0"/>
          </a:p>
          <a:p>
            <a:pPr indent="0" marL="0">
              <a:buNone/>
            </a:pPr>
            <a:r>
              <a:rPr lang="en-US" sz="1200" dirty="0">
                <a:solidFill>
                  <a:srgbClr val="94A3B8"/>
                </a:solidFill>
                <a:latin typeface="Calibri" pitchFamily="34" charset="0"/>
                <a:ea typeface="Calibri" pitchFamily="34" charset="-122"/>
                <a:cs typeface="Calibri" pitchFamily="34" charset="-120"/>
              </a:rPr>
              <a:t>10 in-scope setup queries + 5 strict refusal checks</a:t>
            </a:r>
            <a:endParaRPr lang="en-US" sz="1600" dirty="0"/>
          </a:p>
        </p:txBody>
      </p:sp>
      <p:sp>
        <p:nvSpPr>
          <p:cNvPr id="7" name="stat1"/>
          <p:cNvSpPr/>
          <p:nvPr/>
        </p:nvSpPr>
        <p:spPr>
          <a:xfrm>
            <a:off x="3291840" y="1645920"/>
            <a:ext cx="2560320" cy="2834640"/>
          </a:xfrm>
          <a:prstGeom prst="roundRect">
            <a:avLst>
              <a:gd name="adj" fmla="val 2857"/>
            </a:avLst>
          </a:prstGeom>
          <a:solidFill>
            <a:srgbClr val="16213A"/>
          </a:solidFill>
          <a:ln w="12700">
            <a:solidFill>
              <a:srgbClr val="16213A"/>
            </a:solidFill>
            <a:prstDash val="solid"/>
          </a:ln>
        </p:spPr>
      </p:sp>
      <p:sp>
        <p:nvSpPr>
          <p:cNvPr id="8" name="Text 6"/>
          <p:cNvSpPr txBox="1"/>
          <p:nvPr/>
        </p:nvSpPr>
        <p:spPr>
          <a:xfrm>
            <a:off x="3474720" y="1828800"/>
            <a:ext cx="2194560" cy="914400"/>
          </a:xfrm>
          <a:prstGeom prst="rect">
            <a:avLst/>
          </a:prstGeom>
          <a:noFill/>
          <a:ln/>
        </p:spPr>
        <p:txBody>
          <a:bodyPr wrap="square" lIns="0" tIns="0" rIns="0" bIns="0" rtlCol="0" anchor="ctr"/>
          <a:lstStyle/>
          <a:p>
            <a:pPr indent="0" marL="0">
              <a:buNone/>
            </a:pPr>
            <a:r>
              <a:rPr lang="en-US" sz="4800" b="1" dirty="0">
                <a:solidFill>
                  <a:srgbClr val="A78BFA"/>
                </a:solidFill>
                <a:latin typeface="Calibri" pitchFamily="34" charset="0"/>
                <a:ea typeface="Calibri" pitchFamily="34" charset="-122"/>
                <a:cs typeface="Calibri" pitchFamily="34" charset="-120"/>
              </a:rPr>
              <a:t>100%</a:t>
            </a:r>
            <a:endParaRPr lang="en-US" sz="4800" dirty="0"/>
          </a:p>
        </p:txBody>
      </p:sp>
      <p:sp>
        <p:nvSpPr>
          <p:cNvPr id="9" name="Text 7"/>
          <p:cNvSpPr txBox="1"/>
          <p:nvPr/>
        </p:nvSpPr>
        <p:spPr>
          <a:xfrm>
            <a:off x="3474720" y="2834640"/>
            <a:ext cx="2194560" cy="1463040"/>
          </a:xfrm>
          <a:prstGeom prst="rect">
            <a:avLst/>
          </a:prstGeom>
          <a:noFill/>
          <a:ln/>
        </p:spPr>
        <p:txBody>
          <a:bodyPr wrap="square" lIns="0" tIns="0" rIns="0" bIns="0" rtlCol="0" anchor="t"/>
          <a:lstStyle/>
          <a:p>
            <a:pPr indent="0" marL="0">
              <a:buNone/>
            </a:pPr>
            <a:r>
              <a:rPr lang="en-US" sz="1600" b="1" dirty="0">
                <a:solidFill>
                  <a:srgbClr val="F1F5F9"/>
                </a:solidFill>
                <a:latin typeface="Calibri" pitchFamily="34" charset="0"/>
                <a:ea typeface="Calibri" pitchFamily="34" charset="-122"/>
                <a:cs typeface="Calibri" pitchFamily="34" charset="-120"/>
              </a:rPr>
              <a:t>Safety compliance</a:t>
            </a:r>
            <a:endParaRPr lang="en-US" sz="1600" dirty="0"/>
          </a:p>
          <a:p>
            <a:pPr indent="0" marL="0">
              <a:buNone/>
            </a:pPr>
            <a:r>
              <a:rPr lang="en-US" sz="1200" dirty="0">
                <a:solidFill>
                  <a:srgbClr val="94A3B8"/>
                </a:solidFill>
                <a:latin typeface="Calibri" pitchFamily="34" charset="0"/>
                <a:ea typeface="Calibri" pitchFamily="34" charset="-122"/>
                <a:cs typeface="Calibri" pitchFamily="34" charset="-120"/>
              </a:rPr>
              <a:t>Zero hallucinations on out-of-scope queries</a:t>
            </a:r>
            <a:endParaRPr lang="en-US" sz="1600" dirty="0"/>
          </a:p>
        </p:txBody>
      </p:sp>
      <p:sp>
        <p:nvSpPr>
          <p:cNvPr id="10" name="stat2"/>
          <p:cNvSpPr/>
          <p:nvPr/>
        </p:nvSpPr>
        <p:spPr>
          <a:xfrm>
            <a:off x="6035040" y="1645920"/>
            <a:ext cx="2560320" cy="2834640"/>
          </a:xfrm>
          <a:prstGeom prst="roundRect">
            <a:avLst>
              <a:gd name="adj" fmla="val 2857"/>
            </a:avLst>
          </a:prstGeom>
          <a:solidFill>
            <a:srgbClr val="16213A"/>
          </a:solidFill>
          <a:ln w="12700">
            <a:solidFill>
              <a:srgbClr val="16213A"/>
            </a:solidFill>
            <a:prstDash val="solid"/>
          </a:ln>
        </p:spPr>
      </p:sp>
      <p:sp>
        <p:nvSpPr>
          <p:cNvPr id="11" name="Text 9"/>
          <p:cNvSpPr txBox="1"/>
          <p:nvPr/>
        </p:nvSpPr>
        <p:spPr>
          <a:xfrm>
            <a:off x="6217920" y="1828800"/>
            <a:ext cx="2194560" cy="914400"/>
          </a:xfrm>
          <a:prstGeom prst="rect">
            <a:avLst/>
          </a:prstGeom>
          <a:noFill/>
          <a:ln/>
        </p:spPr>
        <p:txBody>
          <a:bodyPr wrap="square" lIns="0" tIns="0" rIns="0" bIns="0" rtlCol="0" anchor="ctr"/>
          <a:lstStyle/>
          <a:p>
            <a:pPr indent="0" marL="0">
              <a:buNone/>
            </a:pPr>
            <a:r>
              <a:rPr lang="en-US" sz="4800" b="1" dirty="0">
                <a:solidFill>
                  <a:srgbClr val="34D399"/>
                </a:solidFill>
                <a:latin typeface="Calibri" pitchFamily="34" charset="0"/>
                <a:ea typeface="Calibri" pitchFamily="34" charset="-122"/>
                <a:cs typeface="Calibri" pitchFamily="34" charset="-120"/>
              </a:rPr>
              <a:t>100%</a:t>
            </a:r>
            <a:endParaRPr lang="en-US" sz="4800" dirty="0"/>
          </a:p>
        </p:txBody>
      </p:sp>
      <p:sp>
        <p:nvSpPr>
          <p:cNvPr id="12" name="Text 10"/>
          <p:cNvSpPr txBox="1"/>
          <p:nvPr/>
        </p:nvSpPr>
        <p:spPr>
          <a:xfrm>
            <a:off x="6217920" y="2834640"/>
            <a:ext cx="2194560" cy="1463040"/>
          </a:xfrm>
          <a:prstGeom prst="rect">
            <a:avLst/>
          </a:prstGeom>
          <a:noFill/>
          <a:ln/>
        </p:spPr>
        <p:txBody>
          <a:bodyPr wrap="square" lIns="0" tIns="0" rIns="0" bIns="0" rtlCol="0" anchor="t"/>
          <a:lstStyle/>
          <a:p>
            <a:pPr indent="0" marL="0">
              <a:buNone/>
            </a:pPr>
            <a:r>
              <a:rPr lang="en-US" sz="1600" b="1" dirty="0">
                <a:solidFill>
                  <a:srgbClr val="F1F5F9"/>
                </a:solidFill>
                <a:latin typeface="Calibri" pitchFamily="34" charset="0"/>
                <a:ea typeface="Calibri" pitchFamily="34" charset="-122"/>
                <a:cs typeface="Calibri" pitchFamily="34" charset="-120"/>
              </a:rPr>
              <a:t>Precise citations</a:t>
            </a:r>
            <a:endParaRPr lang="en-US" sz="1600" dirty="0"/>
          </a:p>
          <a:p>
            <a:pPr indent="0" marL="0">
              <a:buNone/>
            </a:pPr>
            <a:r>
              <a:rPr lang="en-US" sz="1200" dirty="0">
                <a:solidFill>
                  <a:srgbClr val="94A3B8"/>
                </a:solidFill>
                <a:latin typeface="Calibri" pitchFamily="34" charset="0"/>
                <a:ea typeface="Calibri" pitchFamily="34" charset="-122"/>
                <a:cs typeface="Calibri" pitchFamily="34" charset="-120"/>
              </a:rPr>
              <a:t>Valid answers mapped to exact document sections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2026-10-24T10:28:04Z</dcterms:created>
  <dcterms:modified xsi:type="dcterms:W3CDTF">2026-10-24T10:28:04Z</dcterms:modified>
</cp:coreProperties>
</file>